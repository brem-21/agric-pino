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brempong-appiah-dankwah/Agric-PINO/agrictech/Images/farmers-plant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4" name="Shape 1"/>
          <p:cNvSpPr/>
          <p:nvPr/>
        </p:nvSpPr>
        <p:spPr>
          <a:xfrm>
            <a:off x="6903720" y="0"/>
            <a:ext cx="109728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685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GDSS–PSInno AgriTech Innovation Challenge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Farmer-to-Buyer Digital Marketplace for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Ghana's Upper East Tomato Corridor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52120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harvest to sale — before it rots.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Lorgric  •  Farmer-to-Buyer Digital Marketplace Platform  •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tomato farmers lose up to half of every harvest — Lorgric turns storage and logistics into a digital marketplace that sells produce before it spoils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566160" cy="416052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3566160" cy="9144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187452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952" y="2377440"/>
            <a:ext cx="30540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Ghana's smallholder farmers lose 20–50% of fruit and vegetable harvests after production — no ready market, no cold storage, poor feeder roads.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297680" y="1600200"/>
            <a:ext cx="3566160" cy="416052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600200"/>
            <a:ext cx="3566160" cy="91440"/>
          </a:xfrm>
          <a:prstGeom prst="rect">
            <a:avLst/>
          </a:prstGeom>
          <a:solidFill>
            <a:srgbClr val="2F6B44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87452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53712" y="2377440"/>
            <a:ext cx="30540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research, industry investment (India–Ghana MOU) and farmer advocacy (GIPA) all converge on the same three gaps: storage, market access, logistics.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92440" y="1600200"/>
            <a:ext cx="3566160" cy="416052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600200"/>
            <a:ext cx="3566160" cy="914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9" name="Text 17"/>
          <p:cNvSpPr/>
          <p:nvPr/>
        </p:nvSpPr>
        <p:spPr>
          <a:xfrm>
            <a:off x="8348472" y="187452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48472" y="2377440"/>
            <a:ext cx="305409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Lorgric: a digital platform where a farmer books storage instead of a forced sale, and reaches a wholesaler or processor directly — with on-demand logistics and mobile money built in.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15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farmers in the Upper East Region today; the same model extends to yam and fruit farmers across Ghana's wider Northern Savannah Zone.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1 OF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carries Ghana's economy — but the farmers behind it operate on a knife's edge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566160" cy="19202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Ghana's GDP comes from agriculture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566160" cy="19202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national workforce is employed in the sector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1600200"/>
            <a:ext cx="3566160" cy="19202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2104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Ghanaian farms operate on less than five acres of land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this is exactly the population most exposed when a harvest can't be sold in time: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Small-to-medium farmers growing perishable produce — tomatoes, peppers, garden eggs, okra, leafy greens — face the most time-sensitive market access problem in agriculture.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a buyer is found, transporting produce affordably and reliably is its own battle: poor coordination, fragmented delivery, and unreliable transport routinely turn a sale into a loss.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— retailers, restaurants, processors, exporters, households — struggle just as much: no reliable way to find trusted suppliers, compare prices, or coordinate timely delivery.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GDSS–PSInno AgriTech Innovation Challenge problem brief, 2026.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2 OF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loses up to $3 billion a year to produce that never reaches a buyer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394960" cy="397764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Ghana's fruits and vegetables are lost after harvest — to poor storage, transport delays, and weak distribution networks.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US$1.9B – $3B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80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national cost of these losses.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5074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Data Science Summit / PSInno programme problem brief,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554480"/>
            <a:ext cx="548640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691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into our flagship corridor — fresh tomatoes, Upper East Region: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the farm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46920" y="23317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55080" y="2990088"/>
            <a:ext cx="5029200" cy="914400"/>
          </a:xfrm>
          <a:prstGeom prst="line">
            <a:avLst/>
          </a:prstGeom>
          <a:noFill/>
          <a:ln w="6350">
            <a:solidFill>
              <a:srgbClr val="D9D5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with wholesalers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4692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55080" y="3767328"/>
            <a:ext cx="5029200" cy="914400"/>
          </a:xfrm>
          <a:prstGeom prst="line">
            <a:avLst/>
          </a:prstGeom>
          <a:noFill/>
          <a:ln w="6350">
            <a:solidFill>
              <a:srgbClr val="D9D5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at retail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46920" y="3886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55080" y="47548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compound at every single stage of the chain — the biggest single driver farmers and wholesalers report is simply the lack of a ready market to sell into.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Anaba, G. (2021). Assessment of postharvest losses along the fresh tomato value chain in the Upper East Region of Ghana [Master's thesis, University of Ghana]. UGSpace. https://ugspace.ug.edu.gh/items/e5937c62-5ed6-4954-8dc0-fda3c264be4a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root causes turn up again and again — and none of them is a farmer's fault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440680" cy="192024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82296" cy="192024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ready market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rots unsold at harvest peaks; farmers sell to whoever shows up first, at whatever price is offered.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440680" cy="192024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00200"/>
            <a:ext cx="82296" cy="192024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to buy time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46520" y="249631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cold-chain for perishables, no dry storage for tubers — so a farmer can't hold produce until a fair-price buyer appears.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5440680" cy="192024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49040"/>
            <a:ext cx="82296" cy="192024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last-mile logistics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1520" y="46451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feeder roads, no reliable transport — delay alone spoils tomatoes, mangoes, and yams regardless of how well they were stored.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749040"/>
            <a:ext cx="5440680" cy="192024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749040"/>
            <a:ext cx="82296" cy="192024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886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46520" y="42519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trust &amp; payments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446520" y="4645152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verify who you're dealing with, negotiate a binding price, or pay safely — pushing trade into risky, informal side deals.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Anaba, G. (2021), UGSpace, University of Ghana — "lack of a ready market" ranked the #1 constraint by both farmers and wholesalers.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industry, and farmers themselves are converging on the same answer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points to market access, not just storage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of Ghana study of the Upper East tomato value chain found losses compounding at every stage, driven above all by the absence of a ready market — evidence that storage alone won't close the gap without a route to a buyer.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Anaba, G. (2021). Assessment of postharvest losses along the fresh tomato value chain in the Upper East Region of Ghana [Master's thesis, University of Ghana]. UGSpace. https://ugspace.ug.edu.gh/items/e5937c62-5ed6-4954-8dc0-fda3c264be4a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67919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is betting on storage infrastructure in Ghana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Natural Storage Solutions Pvt. Ltd. signed a Memorandum of Understanding with Ghana to bring cold-chain and modified-atmosphere storage technology into the country's post-harvest infrastructure — a signal that storage-based interventions are considered investable, not just aspirational.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43814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Storage Solutions Pvt. Ltd. (2026, July 30). Natural Storage Solutions signs Memorandum of Understanding with Ghana on post-harvest solutions. PotatoPro. https://www.potatopro.com/news/2026/natural-storage-solutions-signs-memorandum-understanding-ghana-post-harvest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84962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Policymakers are calling for infrastructure, urgently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41422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Ghana Investment Promotion Authority publicly called for expanded processing and warehousing infrastructure, citing produce rotting on farms for lack of anywhere to take it — and tied fixing it directly to investor confidence.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60857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Tetteh, C. (2026, July 31). GIPA calls for infrastructure expansion to address post-harvest losses. Ghana News Agency. https://gna.org.gh/2026/07/gipa-calls-for-infrastructure-expansion-to-address-post-harvest-losses/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5020056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are asking for this themselves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5312664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Ghanaian farmers, in their own words, are pushing for better food storage — reporting nearly $2 billion lost yearly to waste that better storage and processing could prevent.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577900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CGTN Africa. (n.d.). Ghana's farmers push for better food storage [Video]. Facebook. https://web.facebook.com/cgtnafrica/videos/ghanas-farmers-push-for-better-food-storage/1642996303289117/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199632"/>
            <a:ext cx="11183112" cy="18288"/>
          </a:xfrm>
          <a:prstGeom prst="rect">
            <a:avLst/>
          </a:prstGeom>
          <a:solidFill>
            <a:srgbClr val="D9D5C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turns that consensus into a working marketplace — storage, market access, and logistics in one platform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waiting for new cold-storage infrastructure to be financed and built, Lorgric makes the storage, market access, and logistics that already exist — and what's newly being invested in — reachable by any smallholder farmer, today, from a phone.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2121408" cy="23317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184708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lists produce with photos, quantity, price, and harvest/expiry dates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624328" y="3520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0" y="2697480"/>
            <a:ext cx="2121408" cy="2331720"/>
          </a:xfrm>
          <a:prstGeom prst="rect">
            <a:avLst/>
          </a:prstGeom>
          <a:solidFill>
            <a:srgbClr val="2F6B44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0360" y="32004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880360" y="3611880"/>
            <a:ext cx="184708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forced sale, book a nearby cold-chain or dry-storage facility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864608" y="3520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3480" y="2697480"/>
            <a:ext cx="2121408" cy="23317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32004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120640" y="3611880"/>
            <a:ext cx="184708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wholesaler, processor, retailer or exporter directly on the marketplace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104888" y="3520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23760" y="2697480"/>
            <a:ext cx="2121408" cy="2331720"/>
          </a:xfrm>
          <a:prstGeom prst="rect">
            <a:avLst/>
          </a:prstGeom>
          <a:solidFill>
            <a:srgbClr val="2F6B44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60920" y="32004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360920" y="3611880"/>
            <a:ext cx="184708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on-demand logistics with live tracking, instead of an unreliable middleman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345168" y="352044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64040" y="2697480"/>
            <a:ext cx="2121408" cy="23317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2788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01200" y="320040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601200" y="3611880"/>
            <a:ext cx="184708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or cash-on-delivery, safely, the moment the deal is done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25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farmers in the Upper East Region today — the same model already extends in-product to yam and fruit farmers across the wider Northern Savannah Zone.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purpose-built portals, one shared trust layer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2121408" cy="356616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3584" y="1965960"/>
            <a:ext cx="640080" cy="64008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produce, books storage, requests transport, tracks earnings &amp; post-harvest loss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743200" y="1691640"/>
            <a:ext cx="2121408" cy="356616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3864" y="1965960"/>
            <a:ext cx="640080" cy="640080"/>
          </a:xfrm>
          <a:prstGeom prst="ellipse">
            <a:avLst/>
          </a:prstGeom>
          <a:solidFill>
            <a:srgbClr val="2F6B44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26080" y="329184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Wholesalers, processors, retailers, restaurants, exporters, households — search, negotiate, order, pay, track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983480" y="1691640"/>
            <a:ext cx="2121408" cy="356616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24144" y="1965960"/>
            <a:ext cx="640080" cy="640080"/>
          </a:xfrm>
          <a:prstGeom prst="ellipse">
            <a:avLst/>
          </a:prstGeom>
          <a:solidFill>
            <a:srgbClr val="9C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Facility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66360" y="329184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drop-offs, holds produce, helps sell it, earns a flat 5% commission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223760" y="1691640"/>
            <a:ext cx="2121408" cy="356616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64424" y="1965960"/>
            <a:ext cx="640080" cy="640080"/>
          </a:xfrm>
          <a:prstGeom prst="ellipse">
            <a:avLst/>
          </a:prstGeom>
          <a:solidFill>
            <a:srgbClr val="6B7A4F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Provider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06640" y="329184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riders — accept jobs, relay handoffs, live GPS tracking, get paid per job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464040" y="1691640"/>
            <a:ext cx="2121408" cy="356616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4704" y="1965960"/>
            <a:ext cx="640080" cy="640080"/>
          </a:xfrm>
          <a:prstGeom prst="ellipse">
            <a:avLst/>
          </a:prstGeom>
          <a:solidFill>
            <a:srgbClr val="8A6A2F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646920" y="329184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Moderates listings &amp; facilities, verifies identity, resolves disputes, tracks unmet storage demand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02920" y="548640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is protected twice — at the network edge and again in the data layer — and shares encrypted messaging, mobile-money payments, and SMS notifications built for low-connectivity, rural use.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features, mapped to what the challenge asks for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44068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5440680" cy="38404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4173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Features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1892808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profile, with Ghana Card identity verification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listing — photos, quantity, price, harvest/expiry dates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Auto-approval for in-range listings; spoilage-risk flag as expiry nears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storage (cold-chain or dry) instead of a forced sale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on-demand transport; encrypted messaging with buyers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544068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5440680" cy="38404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1732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Features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19088" y="1892808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profile; search/filter by category, price, region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"Spoiling soon" urgency sort — route demand to at-risk produce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price negotiation (make an offer, counter, accept)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Multi-farmer bulk orders for wholesalers &amp; processors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tracking, ratings, and a real refund/replacement dispute path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502920" y="3867912"/>
            <a:ext cx="544068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67912"/>
            <a:ext cx="5440680" cy="38404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Features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4088" y="434340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registration &amp; live availability status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booking with transparent fare + ETA before booking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Farmer/buyer ↔ nearby rider matching, one-click accept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delivery tracking with multi-rider relay handoff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Pickup/drop-off notifications and a printable delivery slip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217920" y="3867912"/>
            <a:ext cx="5440680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867912"/>
            <a:ext cx="5440680" cy="38404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19088" y="434340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(MTN/Telecel via Paystack) + cash-on-delivery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 for low-connectivity areas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buyer recommendations &amp; farmer market advice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weather-to-action guidance for harvest &amp; transport timing</a:t>
            </a:r>
            <a:endParaRPr lang="en-US" sz="107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07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moderation, analytics, and an unmet-storage-demand map</a:t>
            </a:r>
            <a:endParaRPr lang="en-US" sz="10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market it serves: low-cost, low-connectivity, trust-first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5486400" cy="4434840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TypeScript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5237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1760" y="2523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ORM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29443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51760" y="29443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— MTN / Telecel mobile money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364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events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51760" y="3364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Kafka, real-time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378561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51760" y="37856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— Claude &amp; GPT-4o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4206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51760" y="4206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mNotify (Ghana gateway)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5800" y="46268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weather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51760" y="46268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+ Open-Meteo — no license fees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9632" y="1508760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Layer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82512" y="2084832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Card verification — free after 10 transactions, or fast-tracked for a small fee; never a functional gate for smallholders</a:t>
            </a:r>
            <a:endParaRPr lang="en-US" sz="122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password login with brute-force lockout protection</a:t>
            </a:r>
            <a:endParaRPr lang="en-US" sz="122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messaging (AES-256-GCM at rest)</a:t>
            </a:r>
            <a:endParaRPr lang="en-US" sz="122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role-based access control on every route and every data query</a:t>
            </a:r>
            <a:endParaRPr lang="en-US" sz="122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listing approval — only price outliers or flagged accounts wait on a human reviewer</a:t>
            </a:r>
            <a:endParaRPr lang="en-US" sz="1220" dirty="0"/>
          </a:p>
          <a:p>
            <a:pPr marL="228600" indent="-2286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2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dispute, and refund path is real, working code — not a mock-up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FIT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already answers the challenge's own evaluation criteria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3112" cy="4572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087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Lorgric Delivers 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1965960"/>
            <a:ext cx="1118311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6596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for farmers, buyers, riders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96596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Phone-number login, mobile money + cash fallback, SMS-first notifications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587752"/>
            <a:ext cx="11183112" cy="621792"/>
          </a:xfrm>
          <a:prstGeom prst="rect">
            <a:avLst/>
          </a:prstGeom>
          <a:solidFill>
            <a:srgbClr val="F6F3EA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58775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product discovery &amp; transactions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587752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marketplace, spoilage-urgency sort, one-flow ordering, binding offers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209544"/>
            <a:ext cx="1118311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09544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coordination &amp; delivery tracking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20954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rider booking, live GPS tracking, multi-rider relay handoff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831336"/>
            <a:ext cx="11183112" cy="621792"/>
          </a:xfrm>
          <a:prstGeom prst="rect">
            <a:avLst/>
          </a:prstGeom>
          <a:solidFill>
            <a:srgbClr val="F6F3EA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31336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real-world adoption potential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83133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Northern Ghana data today; role-based architecture extends by crop &amp; region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453128"/>
            <a:ext cx="1118311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53128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crop relevance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445312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deliberately to the Upper East tomato corridor, not the whole country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5074920"/>
            <a:ext cx="11183112" cy="621792"/>
          </a:xfrm>
          <a:prstGeom prst="rect">
            <a:avLst/>
          </a:prstGeom>
          <a:solidFill>
            <a:srgbClr val="F6F3EA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7492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low-bandwidth considerations (bonus)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507492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notifications and no-license-fee maps/weather keep the app usable on weak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696712"/>
            <a:ext cx="1118311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9D5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69671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 / matching (bonus)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5696712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buyer recommendations and farmer market/pricing advice, live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corridor to a region-wide answer to post-harvest loss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3A6E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566160" cy="2834640"/>
          </a:xfrm>
          <a:prstGeom prst="rect">
            <a:avLst/>
          </a:prstGeom>
          <a:solidFill>
            <a:srgbClr val="1B5E3A"/>
          </a:solidFill>
          <a:ln w="12700">
            <a:solidFill>
              <a:srgbClr val="2F6B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 for tomato farmers, buyers, storage facilities and riders in the Upper East Region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2834640"/>
          </a:xfrm>
          <a:prstGeom prst="rect">
            <a:avLst/>
          </a:prstGeom>
          <a:solidFill>
            <a:srgbClr val="1B5E3A"/>
          </a:solidFill>
          <a:ln w="12700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booking model to yam and fruit farmers across the Northern Savannah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737360"/>
            <a:ext cx="3566160" cy="2834640"/>
          </a:xfrm>
          <a:prstGeom prst="rect">
            <a:avLst/>
          </a:prstGeom>
          <a:solidFill>
            <a:srgbClr val="1B5E3A"/>
          </a:solidFill>
          <a:ln w="12700">
            <a:solidFill>
              <a:srgbClr val="2F6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25146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platform's own unmet-demand data to direct NGOs, DFIs, and banks to where storage capacity should be built next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harvest is only a loss once it's rotted unsold. Lorgric exists to close that window — so a Ghanaian smallholder farmer's produce reaches a buyer, not a rubbish heap.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"/>
            <a:ext cx="12191695" cy="3200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91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DEMO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working — end to end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3112" cy="914400"/>
          </a:xfrm>
          <a:prstGeom prst="line">
            <a:avLst/>
          </a:prstGeom>
          <a:noFill/>
          <a:ln w="9525">
            <a:solidFill>
              <a:srgbClr val="D9D5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Lorgric  |  GDSS–PSInno AgriTech Innovation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11556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registration, Ghana Card verification flow, and produce listing with photos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marketplace search, filtering, and the spoilage-urgency "sell first" sort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an order end-to-end: negotiation, mobile-money payment, order confirmation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storage facility instead of a forced sale — the drop-off lifecycle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a rider, live GPS delivery tracking, and the printable delivery slip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recommendations and same-day weather-to-action advice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02920" y="5623560"/>
            <a:ext cx="11183112" cy="566928"/>
          </a:xfrm>
          <a:prstGeom prst="rect">
            <a:avLst/>
          </a:prstGeom>
          <a:solidFill>
            <a:srgbClr val="F6F3EA"/>
          </a:solidFill>
          <a:ln w="9525">
            <a:solidFill>
              <a:srgbClr val="D9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5623560"/>
            <a:ext cx="11183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 after the walkthrough.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Lorgric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Lorgric — Farmer-to-Buyer Digital Marketplace Platform</dc:title>
  <dc:subject>PptxGenJS Presentation</dc:subject>
  <dc:creator>Lorgric</dc:creator>
  <cp:lastModifiedBy>Lorgric</cp:lastModifiedBy>
  <cp:revision>1</cp:revision>
  <dcterms:created xsi:type="dcterms:W3CDTF">2026-08-13T23:13:10Z</dcterms:created>
  <dcterms:modified xsi:type="dcterms:W3CDTF">2026-08-13T23:13:10Z</dcterms:modified>
</cp:coreProperties>
</file>